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9" r:id="rId6"/>
    <p:sldId id="260" r:id="rId7"/>
    <p:sldId id="258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877" autoAdjust="0"/>
    <p:restoredTop sz="94647"/>
  </p:normalViewPr>
  <p:slideViewPr>
    <p:cSldViewPr snapToGrid="0" snapToObjects="1">
      <p:cViewPr>
        <p:scale>
          <a:sx n="100" d="100"/>
          <a:sy n="100" d="100"/>
        </p:scale>
        <p:origin x="480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5D87542-E60E-ED2F-15E7-3E5AFD4E99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Deep Dive (Usage, Age, Province)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C8738-D2AC-363F-3AAC-93D32F81A0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9AC92-5D20-4B81-A98B-980B15FDEF86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156805-5A9C-513E-A200-DBB41B75B4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7BBF-2B7B-8699-460A-E45906D9BA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0EED23-7BF0-4B79-8865-F3BA0C8DA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4748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Deep Dive (Usage, Age, Province)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B30D8-C1D1-4683-B330-FD854A5BBDF9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D7D69-4118-4CC1-94DD-7CF12BDE2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17306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61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10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09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84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18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03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56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46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14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49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1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8883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1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34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72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0608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047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551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64A015-EDB3-4688-8B77-92553054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510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43B012-AC12-6C69-34F9-F93D9D03A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125" y="247650"/>
            <a:ext cx="11029949" cy="6153150"/>
          </a:xfrm>
        </p:spPr>
        <p:txBody>
          <a:bodyPr>
            <a:normAutofit/>
          </a:bodyPr>
          <a:lstStyle/>
          <a:p>
            <a:r>
              <a:rPr lang="en-US" sz="2800" b="1" dirty="0" err="1"/>
              <a:t>BrightTV</a:t>
            </a:r>
            <a:r>
              <a:rPr lang="en-US" sz="2800" b="1" dirty="0"/>
              <a:t> User &amp; Usage Insights Report</a:t>
            </a:r>
            <a:br>
              <a:rPr lang="en-US" sz="1800" b="1" dirty="0"/>
            </a:br>
            <a:br>
              <a:rPr lang="en-US" sz="1800" b="1" dirty="0"/>
            </a:br>
            <a:br>
              <a:rPr lang="en-US" sz="1800" b="1" dirty="0"/>
            </a:br>
            <a:br>
              <a:rPr lang="en-US" sz="1800" b="1" dirty="0"/>
            </a:br>
            <a:br>
              <a:rPr lang="en-US" sz="1800" dirty="0"/>
            </a:br>
            <a:br>
              <a:rPr lang="en-US" sz="1800" b="1" dirty="0"/>
            </a:br>
            <a:br>
              <a:rPr lang="en-US" sz="1800" b="1" dirty="0"/>
            </a:br>
            <a:br>
              <a:rPr lang="en-US" sz="1400" b="1" dirty="0"/>
            </a:br>
            <a:r>
              <a:rPr lang="en-US" sz="1400" i="1" dirty="0"/>
              <a:t>Understanding User Behavior to Drive Growth &amp; Engagement</a:t>
            </a:r>
            <a:br>
              <a:rPr lang="en-US" sz="1400" dirty="0"/>
            </a:br>
            <a:r>
              <a:rPr lang="en-US" sz="1400" b="1" dirty="0"/>
              <a:t>Period Analyzed:</a:t>
            </a:r>
            <a:r>
              <a:rPr lang="en-US" sz="1400" dirty="0"/>
              <a:t> 06 Jan – 16 Apr</a:t>
            </a:r>
            <a:br>
              <a:rPr lang="en-US" sz="16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200" b="1" i="1" dirty="0"/>
              <a:t>Prepared by:</a:t>
            </a:r>
            <a:r>
              <a:rPr lang="en-US" sz="1200" i="1" dirty="0"/>
              <a:t> Ntshembo Maluleke</a:t>
            </a:r>
            <a:br>
              <a:rPr lang="en-US" sz="1200" i="1" dirty="0"/>
            </a:br>
            <a:r>
              <a:rPr lang="en-US" sz="1200" b="1" i="1" dirty="0"/>
              <a:t>Date:</a:t>
            </a:r>
            <a:r>
              <a:rPr lang="en-US" sz="1200" i="1" dirty="0"/>
              <a:t> 15 Nov 2025</a:t>
            </a:r>
          </a:p>
        </p:txBody>
      </p:sp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11F24F-F015-EA17-70F3-250003BB9C9B}"/>
              </a:ext>
            </a:extLst>
          </p:cNvPr>
          <p:cNvSpPr txBox="1"/>
          <p:nvPr/>
        </p:nvSpPr>
        <p:spPr>
          <a:xfrm>
            <a:off x="590550" y="1513789"/>
            <a:ext cx="1112519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report provides an analysis of </a:t>
            </a:r>
            <a:r>
              <a:rPr lang="en-US" dirty="0" err="1"/>
              <a:t>BrightTV’s</a:t>
            </a:r>
            <a:r>
              <a:rPr lang="en-US" dirty="0"/>
              <a:t> user patterns, content consumption behavior, and opportunities for audience growth. The Power BI dashboard will be used to visually demonstrate trends and drill-downs.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u="sng" dirty="0"/>
              <a:t>Key Highlights</a:t>
            </a:r>
            <a:endParaRPr lang="en-US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March recorded the </a:t>
            </a:r>
            <a:r>
              <a:rPr lang="en-US" sz="1600" b="1" dirty="0"/>
              <a:t>highest engagement</a:t>
            </a:r>
            <a:r>
              <a:rPr lang="en-US" sz="1600" dirty="0"/>
              <a:t>, indicating strong content alignment and seasonal uplift.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Friday and Saturday</a:t>
            </a:r>
            <a:r>
              <a:rPr lang="en-US" sz="1600" dirty="0"/>
              <a:t> are the top-performing days for consumption.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Monday shows the lowest usage</a:t>
            </a:r>
            <a:r>
              <a:rPr lang="en-US" sz="1600" dirty="0"/>
              <a:t>, representing a key opportunity for content activation.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BrightTV’s</a:t>
            </a:r>
            <a:r>
              <a:rPr lang="en-US" sz="1600" dirty="0"/>
              <a:t> audience is dominated by </a:t>
            </a:r>
            <a:r>
              <a:rPr lang="en-US" sz="1600" b="1" dirty="0"/>
              <a:t>young adults (18–34)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large </a:t>
            </a:r>
            <a:r>
              <a:rPr lang="en-US" sz="1600" b="1" dirty="0"/>
              <a:t>No-Watch segment</a:t>
            </a:r>
            <a:r>
              <a:rPr lang="en-US" sz="1600" dirty="0"/>
              <a:t> indicates users who log in but do not start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Gauteng leads</a:t>
            </a:r>
            <a:r>
              <a:rPr lang="en-US" sz="1600" dirty="0"/>
              <a:t> provincial usage, with several underpenetrated provinces offering growth potential.</a:t>
            </a:r>
          </a:p>
          <a:p>
            <a:endParaRPr lang="en-US" dirty="0"/>
          </a:p>
          <a:p>
            <a:r>
              <a:rPr lang="en-US" b="1" dirty="0"/>
              <a:t>Purpose of the Analysis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Identify usage and user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Understand what influences consumption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Recommend content for low-consumption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Propose initiatives to grow </a:t>
            </a:r>
            <a:r>
              <a:rPr lang="en-US" sz="1600" dirty="0" err="1"/>
              <a:t>BrightTV’s</a:t>
            </a:r>
            <a:r>
              <a:rPr lang="en-US" sz="1600" dirty="0"/>
              <a:t> user base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0CB38-4A06-68CA-DB42-3F9E98F56381}"/>
              </a:ext>
            </a:extLst>
          </p:cNvPr>
          <p:cNvSpPr txBox="1"/>
          <p:nvPr/>
        </p:nvSpPr>
        <p:spPr>
          <a:xfrm>
            <a:off x="590550" y="372159"/>
            <a:ext cx="62388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Executive Summary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95701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B1F0DF-59B8-0181-940F-4C560FDA5E0D}"/>
              </a:ext>
            </a:extLst>
          </p:cNvPr>
          <p:cNvSpPr txBox="1"/>
          <p:nvPr/>
        </p:nvSpPr>
        <p:spPr>
          <a:xfrm>
            <a:off x="771525" y="447675"/>
            <a:ext cx="3286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Trends &amp;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669699-FCEF-453C-BEE2-3C2C346F5428}"/>
              </a:ext>
            </a:extLst>
          </p:cNvPr>
          <p:cNvSpPr txBox="1"/>
          <p:nvPr/>
        </p:nvSpPr>
        <p:spPr>
          <a:xfrm>
            <a:off x="685800" y="1336119"/>
            <a:ext cx="40767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Daily Usage Patterns</a:t>
            </a:r>
            <a:endParaRPr lang="en-US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Highest activity on </a:t>
            </a:r>
            <a:r>
              <a:rPr lang="en-US" sz="1600" b="1" dirty="0"/>
              <a:t>Friday</a:t>
            </a:r>
            <a:r>
              <a:rPr lang="en-US" sz="1600" dirty="0"/>
              <a:t>, followed by Saturday.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Monday is the lowest</a:t>
            </a:r>
            <a:r>
              <a:rPr lang="en-US" sz="1600" dirty="0"/>
              <a:t>, suggesting weekday fatigue or limited fresh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Midweek stability shows consistent user behavior.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30E8B-348D-BD09-A93E-B92FA8D19A79}"/>
              </a:ext>
            </a:extLst>
          </p:cNvPr>
          <p:cNvSpPr txBox="1"/>
          <p:nvPr/>
        </p:nvSpPr>
        <p:spPr>
          <a:xfrm>
            <a:off x="781050" y="4056338"/>
            <a:ext cx="40767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Monthly Trends</a:t>
            </a:r>
            <a:endParaRPr lang="en-US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March peaks</a:t>
            </a:r>
            <a:r>
              <a:rPr lang="en-US" sz="1600" dirty="0"/>
              <a:t> significantly, confirming strong demand.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February and January follow with balanced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April dips due to incomplete dataset.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76E26E-687A-515C-A124-10876E9059D5}"/>
              </a:ext>
            </a:extLst>
          </p:cNvPr>
          <p:cNvSpPr txBox="1"/>
          <p:nvPr/>
        </p:nvSpPr>
        <p:spPr>
          <a:xfrm>
            <a:off x="6096000" y="1396453"/>
            <a:ext cx="48863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User Demographics</a:t>
            </a:r>
            <a:endParaRPr lang="en-US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Strongest engagement from </a:t>
            </a:r>
            <a:r>
              <a:rPr lang="en-US" sz="1600" b="1" dirty="0"/>
              <a:t>18–34</a:t>
            </a:r>
            <a:r>
              <a:rPr lang="en-US" sz="1600" dirty="0"/>
              <a:t> age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Low engagement from </a:t>
            </a:r>
            <a:r>
              <a:rPr lang="en-US" sz="1600" b="1" dirty="0"/>
              <a:t>45+</a:t>
            </a:r>
            <a:r>
              <a:rPr lang="en-US" sz="1600" dirty="0"/>
              <a:t>, showing opportunity for targeted content or education.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6D9AA9-6615-49EF-93C9-11D8E441D454}"/>
              </a:ext>
            </a:extLst>
          </p:cNvPr>
          <p:cNvSpPr txBox="1"/>
          <p:nvPr/>
        </p:nvSpPr>
        <p:spPr>
          <a:xfrm>
            <a:off x="6096000" y="4907549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Regional Insights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Gauteng dominates</a:t>
            </a:r>
            <a:r>
              <a:rPr lang="en-US" sz="1600" dirty="0"/>
              <a:t>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Western Cape, KZN, and Eastern Cape have moderate activity.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Several provinces show </a:t>
            </a:r>
            <a:r>
              <a:rPr lang="en-US" sz="1600" b="1" dirty="0" err="1"/>
              <a:t>underpenetration</a:t>
            </a:r>
            <a:r>
              <a:rPr lang="en-US" sz="1600" dirty="0"/>
              <a:t> and room for activation.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E453DA-2451-22CB-B3A0-8053EDEC00DA}"/>
              </a:ext>
            </a:extLst>
          </p:cNvPr>
          <p:cNvSpPr txBox="1"/>
          <p:nvPr/>
        </p:nvSpPr>
        <p:spPr>
          <a:xfrm>
            <a:off x="6096000" y="3058834"/>
            <a:ext cx="40767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Watch Behavior</a:t>
            </a:r>
            <a:endParaRPr lang="en-US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 </a:t>
            </a:r>
            <a:r>
              <a:rPr lang="en-US" sz="1600" b="1" dirty="0"/>
              <a:t>No-Watch</a:t>
            </a:r>
            <a:r>
              <a:rPr lang="en-US" sz="1600" dirty="0"/>
              <a:t> user group suggests browsing without commitment.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Majority fall into </a:t>
            </a:r>
            <a:r>
              <a:rPr lang="en-US" sz="1600" b="1" dirty="0"/>
              <a:t>Low Watch</a:t>
            </a:r>
            <a:r>
              <a:rPr lang="en-US" sz="1600" dirty="0"/>
              <a:t>, with fewer Medium/High Watch users.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906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8DDBB-684C-4B14-9037-96B9F0928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>
                <a:extLst>
                  <a:ext uri="{FF2B5EF4-FFF2-40B4-BE49-F238E27FC236}">
                    <a16:creationId xmlns:a16="http://schemas.microsoft.com/office/drawing/2014/main" id="{F2337364-FDC2-5196-9D8A-8615B7B04A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0770960"/>
                  </p:ext>
                </p:extLst>
              </p:nvPr>
            </p:nvGraphicFramePr>
            <p:xfrm>
              <a:off x="0" y="0"/>
              <a:ext cx="12192000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" descr="Add-in content for Microsoft Power BI.">
                <a:extLst>
                  <a:ext uri="{FF2B5EF4-FFF2-40B4-BE49-F238E27FC236}">
                    <a16:creationId xmlns:a16="http://schemas.microsoft.com/office/drawing/2014/main" id="{F2337364-FDC2-5196-9D8A-8615B7B04A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8624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7C9316-6FBA-7E3C-C05A-F3BC99555ECD}"/>
              </a:ext>
            </a:extLst>
          </p:cNvPr>
          <p:cNvSpPr txBox="1"/>
          <p:nvPr/>
        </p:nvSpPr>
        <p:spPr>
          <a:xfrm>
            <a:off x="666750" y="433804"/>
            <a:ext cx="723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Deep Dive (Usage, Age, Province)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8C19F1-55C1-D212-C6B6-00E09E3FA828}"/>
              </a:ext>
            </a:extLst>
          </p:cNvPr>
          <p:cNvSpPr txBox="1"/>
          <p:nvPr/>
        </p:nvSpPr>
        <p:spPr>
          <a:xfrm>
            <a:off x="590550" y="1838325"/>
            <a:ext cx="111252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Usage Deep Dive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Weekend peaks point toward entertainment-driven viewer habits.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Monday drop indicates a gap in fresh or engaging content at the start of the week.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Average watch duration = </a:t>
            </a:r>
            <a:r>
              <a:rPr lang="en-US" sz="1600" b="1" dirty="0"/>
              <a:t>8.72 minutes</a:t>
            </a:r>
            <a:r>
              <a:rPr lang="en-US" sz="1600" dirty="0"/>
              <a:t>, suggesting preference for short content or low stickiness.</a:t>
            </a:r>
          </a:p>
          <a:p>
            <a:endParaRPr lang="en-US" dirty="0"/>
          </a:p>
          <a:p>
            <a:r>
              <a:rPr lang="en-US" b="1" u="sng" dirty="0"/>
              <a:t>Age Segment Deep Dive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18–24:</a:t>
            </a:r>
            <a:r>
              <a:rPr lang="en-US" sz="1600" dirty="0"/>
              <a:t> Strong adoption, ideal for new content experiments.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25–34:</a:t>
            </a:r>
            <a:r>
              <a:rPr lang="en-US" sz="1600" dirty="0"/>
              <a:t> Largest group; key for sustaining growth and engagement.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35–44:</a:t>
            </a:r>
            <a:r>
              <a:rPr lang="en-US" sz="1600" dirty="0"/>
              <a:t> Medium engagement; potential to grow with lifestyle or info-based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45–55+:</a:t>
            </a:r>
            <a:r>
              <a:rPr lang="en-US" sz="1600" dirty="0"/>
              <a:t> Lowest engagement, requiring targeted content or onboarding.</a:t>
            </a:r>
          </a:p>
          <a:p>
            <a:endParaRPr lang="en-US" dirty="0"/>
          </a:p>
          <a:p>
            <a:r>
              <a:rPr lang="en-US" b="1" u="sng" dirty="0"/>
              <a:t>Provincial Deep Dive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Gauteng</a:t>
            </a:r>
            <a:r>
              <a:rPr lang="en-US" sz="1600" dirty="0"/>
              <a:t> = strongest base with high digital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KZN, Western Cape, Eastern Cape</a:t>
            </a:r>
            <a:r>
              <a:rPr lang="en-US" sz="1600" dirty="0"/>
              <a:t> = moderate contributors with growth potential.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Underpenetrated provinces</a:t>
            </a:r>
            <a:r>
              <a:rPr lang="en-US" sz="1600" dirty="0"/>
              <a:t> (e.g., Northern Cape, Free State) present opportunities for outreach campaigns and localized content.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748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26330A-9533-05F9-421E-FFEC5323EE6E}"/>
              </a:ext>
            </a:extLst>
          </p:cNvPr>
          <p:cNvSpPr txBox="1"/>
          <p:nvPr/>
        </p:nvSpPr>
        <p:spPr>
          <a:xfrm>
            <a:off x="923925" y="48717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527EB-BE1F-89D0-4DC4-E3671AF47E11}"/>
              </a:ext>
            </a:extLst>
          </p:cNvPr>
          <p:cNvSpPr txBox="1"/>
          <p:nvPr/>
        </p:nvSpPr>
        <p:spPr>
          <a:xfrm>
            <a:off x="1357311" y="1809748"/>
            <a:ext cx="92821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b="1" u="sng" dirty="0"/>
              <a:t>Content Strategy for Low-Consumption Days</a:t>
            </a:r>
          </a:p>
          <a:p>
            <a:endParaRPr lang="en-US" sz="1600" b="1" dirty="0"/>
          </a:p>
          <a:p>
            <a:r>
              <a:rPr lang="en-US" b="1" dirty="0"/>
              <a:t>Monday: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Motivational or “start your week”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Light entertainment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News recaps or short highlights</a:t>
            </a:r>
          </a:p>
          <a:p>
            <a:endParaRPr lang="en-US" sz="1600" dirty="0"/>
          </a:p>
          <a:p>
            <a:r>
              <a:rPr lang="en-US" b="1" dirty="0"/>
              <a:t>Midweek (Tue–Thu):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New episode drops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Trending &amp; viral short-form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Interactive content (polls, quick opinion pieces)</a:t>
            </a:r>
          </a:p>
          <a:p>
            <a:endParaRPr lang="en-US" sz="1600" dirty="0"/>
          </a:p>
          <a:p>
            <a:r>
              <a:rPr lang="en-US" b="1" dirty="0"/>
              <a:t>Sunday: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Family-friendly shows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Weekend wrap-up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Inspirational or faith-aligned content (depending on audience needs)</a:t>
            </a:r>
          </a:p>
        </p:txBody>
      </p:sp>
    </p:spTree>
    <p:extLst>
      <p:ext uri="{BB962C8B-B14F-4D97-AF65-F5344CB8AC3E}">
        <p14:creationId xmlns:p14="http://schemas.microsoft.com/office/powerpoint/2010/main" val="1997807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051EA4-DB7D-EA28-EE7F-1342526B0DDC}"/>
              </a:ext>
            </a:extLst>
          </p:cNvPr>
          <p:cNvSpPr txBox="1"/>
          <p:nvPr/>
        </p:nvSpPr>
        <p:spPr>
          <a:xfrm>
            <a:off x="923925" y="48717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Recommendations Continuation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149EEC-CED8-EDB3-154E-DC688005D5AD}"/>
              </a:ext>
            </a:extLst>
          </p:cNvPr>
          <p:cNvSpPr txBox="1"/>
          <p:nvPr/>
        </p:nvSpPr>
        <p:spPr>
          <a:xfrm>
            <a:off x="1438274" y="2095499"/>
            <a:ext cx="951547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2. Engagement Initiatives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Launch </a:t>
            </a:r>
            <a:r>
              <a:rPr lang="en-US" sz="1600" b="1" dirty="0"/>
              <a:t>personalized recommendations</a:t>
            </a:r>
            <a:r>
              <a:rPr lang="en-US" sz="1600" dirty="0"/>
              <a:t> to convert No-Watch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 </a:t>
            </a:r>
            <a:r>
              <a:rPr lang="en-US" sz="1600" b="1" dirty="0"/>
              <a:t>push notifications</a:t>
            </a:r>
            <a:r>
              <a:rPr lang="en-US" sz="1600" dirty="0"/>
              <a:t> to highlight new drops + reminders.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Enhance </a:t>
            </a:r>
            <a:r>
              <a:rPr lang="en-US" sz="1600" b="1" dirty="0"/>
              <a:t>Continue Watching</a:t>
            </a:r>
            <a:r>
              <a:rPr lang="en-US" sz="1600" dirty="0"/>
              <a:t> visibility to encourage return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Introduce </a:t>
            </a:r>
            <a:r>
              <a:rPr lang="en-US" sz="1600" b="1" dirty="0"/>
              <a:t>short trailers/teasers</a:t>
            </a:r>
            <a:r>
              <a:rPr lang="en-US" sz="1600" dirty="0"/>
              <a:t> to increase content sampling.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Add </a:t>
            </a:r>
            <a:r>
              <a:rPr lang="en-US" sz="1600" b="1" dirty="0"/>
              <a:t>gamification</a:t>
            </a:r>
            <a:r>
              <a:rPr lang="en-US" sz="1600" dirty="0"/>
              <a:t> (weekly goals, badges, streaks).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u="sng" dirty="0"/>
              <a:t>3. User Base Growth Initiatives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Province-specific marketing</a:t>
            </a:r>
            <a:r>
              <a:rPr lang="en-US" sz="1600" dirty="0"/>
              <a:t> in underpenetrated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Campus-focused campaigns</a:t>
            </a:r>
            <a:r>
              <a:rPr lang="en-US" sz="1600" dirty="0"/>
              <a:t> to strengthen 18–24 dominance.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Referral rewards</a:t>
            </a:r>
            <a:r>
              <a:rPr lang="en-US" sz="1600" dirty="0"/>
              <a:t> to drive organic acquisition.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Partnerships with NGOs, schools, and community groups for awareness.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Introduce a </a:t>
            </a:r>
            <a:r>
              <a:rPr lang="en-US" sz="1600" b="1" dirty="0"/>
              <a:t>data-lite content mode</a:t>
            </a:r>
            <a:r>
              <a:rPr lang="en-US" sz="1600" dirty="0"/>
              <a:t> to reduce barriers for low-connectivity users.</a:t>
            </a:r>
          </a:p>
        </p:txBody>
      </p:sp>
    </p:spTree>
    <p:extLst>
      <p:ext uri="{BB962C8B-B14F-4D97-AF65-F5344CB8AC3E}">
        <p14:creationId xmlns:p14="http://schemas.microsoft.com/office/powerpoint/2010/main" val="3386783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52123-03A1-ED45-4CAF-4DACC8C410BF}"/>
              </a:ext>
            </a:extLst>
          </p:cNvPr>
          <p:cNvSpPr txBox="1"/>
          <p:nvPr/>
        </p:nvSpPr>
        <p:spPr>
          <a:xfrm>
            <a:off x="933450" y="2724150"/>
            <a:ext cx="100203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BrightTV</a:t>
            </a:r>
            <a:r>
              <a:rPr lang="en-US" dirty="0"/>
              <a:t> has a strong and growing young audience base, with March showing peak interest.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Usage patterns highlight clear opportunities for optimizing content timing and themes.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significant potential to convert No-Watch users into active watchers through personalization and reminders.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Underpenetrated provinces are key for future user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 applying targeted content, engagement strategies, and localized outreach, </a:t>
            </a:r>
            <a:r>
              <a:rPr lang="en-US" dirty="0" err="1"/>
              <a:t>BrightTV</a:t>
            </a:r>
            <a:r>
              <a:rPr lang="en-US" dirty="0"/>
              <a:t> can </a:t>
            </a:r>
            <a:r>
              <a:rPr lang="en-US" b="1" dirty="0"/>
              <a:t>increase watch time and expand its user base sustainably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Power BI dashboard will continue serving as a real-time tool for monitoring trends and guiding decisions.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F4DCD-1223-A505-07A7-429C76ACFFE8}"/>
              </a:ext>
            </a:extLst>
          </p:cNvPr>
          <p:cNvSpPr txBox="1"/>
          <p:nvPr/>
        </p:nvSpPr>
        <p:spPr>
          <a:xfrm>
            <a:off x="1333500" y="847725"/>
            <a:ext cx="3895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701725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7952C0-ABDB-31CD-24C3-D4797BC4F37D}"/>
              </a:ext>
            </a:extLst>
          </p:cNvPr>
          <p:cNvSpPr txBox="1"/>
          <p:nvPr/>
        </p:nvSpPr>
        <p:spPr>
          <a:xfrm>
            <a:off x="1471612" y="905232"/>
            <a:ext cx="924877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Thank You</a:t>
            </a:r>
            <a:br>
              <a:rPr lang="en-US" dirty="0"/>
            </a:br>
            <a:r>
              <a:rPr lang="en-US" sz="1600" i="1" dirty="0"/>
              <a:t>I appreciate your time and engagement.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b="1" u="sng" dirty="0"/>
              <a:t>For further questions or discussions:</a:t>
            </a:r>
            <a:br>
              <a:rPr lang="en-US" dirty="0"/>
            </a:br>
            <a:r>
              <a:rPr lang="en-US" sz="1600" i="1" dirty="0"/>
              <a:t>Ntshembo Maluleke</a:t>
            </a:r>
            <a:br>
              <a:rPr lang="en-US" sz="1600" i="1" dirty="0"/>
            </a:br>
            <a:r>
              <a:rPr lang="en-US" sz="1600" i="1" dirty="0"/>
              <a:t>Data Analyst</a:t>
            </a:r>
            <a:br>
              <a:rPr lang="en-US" sz="1600" i="1" dirty="0"/>
            </a:br>
            <a:r>
              <a:rPr lang="en-US" sz="1600" i="1" dirty="0"/>
              <a:t>ntshembomaluleke000@gmail.com</a:t>
            </a:r>
            <a:br>
              <a:rPr lang="en-US" sz="1600" i="1" dirty="0"/>
            </a:br>
            <a:r>
              <a:rPr lang="en-US" sz="1600" i="1" dirty="0"/>
              <a:t>060 350 1179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dirty="0"/>
          </a:p>
          <a:p>
            <a:pPr algn="ctr"/>
            <a:r>
              <a:rPr lang="en-US" b="1" dirty="0" err="1"/>
              <a:t>BrightTV</a:t>
            </a:r>
            <a:r>
              <a:rPr lang="en-US" b="1" dirty="0"/>
              <a:t> — Empowering Audiences Through Insightful Content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5293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10206320-e949-4e06-bbbd-6fd18225a6b4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ECECEC&quot;"/>
    <we:property name="bookmark" value="&quot;H4sIAAAAAAAAA+1aUW/aSBD+K8gveaGnXXvt3c0bAXqt2vRygaY6naJqvTsGt8ZG9pKEi/Lfb7wGpSQkJLQpVKqEROxdfzsz/r7ZmSXXnkmraabmH9QEvEPvqCi+TlT5tUW9tpc394BGJg5MQgRTAY+YUBDgaDG1aZFX3uG1Z1U5AnuWVjOV1UB489/ztqey7ESN6qtEZRW0vSmUVZGrLP0Pmsk4ZMsZ3LQ9uJpmRalqyIFVFmrYC5yO12gC/aNeUWmbXsAAtG3uCiJ9aZiiDEINmqhACpxWNROcZWun1NBu+W6RW5XmuEx9jwQRJT537hLOlQmYrO8naWYXU+J5/2paonfo83xaB6djLlSuwXjOhRKqxuJr7xhUNSudH/2VgUExKzWcQuKGcpvaeY2T4BqtQZqPMmgN+u/73WHr7xmUc+8Go3NSFhg7N9EWVmWtWVVbVA+Ni8tuCRgx4x2Sm/buDBs6w/RY5Tlke2nbJ2X1uPUGofbMvA4yHYXS6s0aBbSO03xmYZ2V53incoiNgm7JPGyM16o0iyHUaPwFxVBTFx8rSgPl0dyxt5eWSxn57TvO/Bzmoic4zHichCGTPPZjGjAAwniN/qiL1Vjh94p3NRZhivmMKC2Yr7kixhC2EcvClY2Lq/toTAvMAiqg+IXpI5A6NtujESn9xFBOCadaUEJAkI1o6QRJcR9LGJFwBUZIRUOGOcuIaNuY1QmPGhroSDBEVEzE4cac10Uyjooy1Y5jqxLpFtlskv9w7vQ6/3z+0Dnu75duH8/Fm6XqYtUdq9I+Uav0rlZfPtw358uNF8e/fLO1LljQ2Pjydpw7vvoh0zoxIYkCiAjxdUhgW+4nAkKJdYHkvopB+iTm+tfd73cgymMsn8YtVzluwX6Fc/eR+yte7ZT9K5Y0/Mdtg8aCSx8oCQJGCNfBtvwHLQQJZUxkXKvAJ3R7LO4zTQXTKiYBoxGNgW69j1OqQtzFfZ/GNOIkJDow+7gndf7sfz762H3XH263K3VGoxJGyi4ufwq5Pw76p2977u7rWb5QVrjN3pXNKlwTzJEq91HFKy9npypesaRRMRdAaCRJDKi9muEyFvvI8JPTv87efuhuWXX90vw2BXZgzyH2vTZqn9zfqQC+YVFD/ygUiY4oI5pxzgkYrOT2kf6fOsPum18uxa+0St+Z5Pe2QbnzanbK7zu2NBwPAHiCfTUBRimXRPOIblsQESVige1JDMxAxHxQcnOh9uBRRCQ51cQwX0VYsYHA/l9tjyalIHEiQkI0pbHmaOTmg40H0QBLUd8AJ0YipAoCTr4DTUMSSF9g/RgToghnIPfycOPRQnKjSKss1VCueO9NoBy5VtQoq5x302a5FJrxwrhhcM5fe+9TNLXBPlPZrIY96OETprjMDzwXzLR6m18gApgBZI3Cjjej1Kf79fOL4761GnVzq59cgtHIFzqWoc98xrGV8gOyl03GIyXYb2a8QG2SJCLGvjj240joANOaDDYfCv3mxYvwov4pL1tWFvcsqiwG3DahahbYgOx+hNxDyrEE0w8NJRMKt+VAGyHZPlJu0Pnc6wx/PONGkDev6t4rbiKw+tfZ8kdhbLhel8XEPbb49VrhCk/wq+01ZpGaYp/GUJ/auvedm3RZqndytx28h8Q2IZ1MVZlWywAvr96l9Tw05XbiE2LfXDiDH4nxaToa2we4jCoFm07gwCc0ekUofoaEHLqPk9+3zz9ufLBr49kr4t8xvpGoSwEP5KPKYlPSW/yjwCOi3xgoFE9ung/E1gA9JUcegb0EyA9ePsW50MGpykewBjrNdTYzMCyMmj9vp95x53dLsgebvpfP4bdGnDdsXZ/ZipmtpkrDicrXvQOMucoNmGftWzc3/wPEMFOptCMAAA==&quot;"/>
    <we:property name="creatorSessionId" value="&quot;e44f9bf9-4a1d-4c8c-bbf7-7d386e6d1eef&quot;"/>
    <we:property name="creatorTenantId" value="&quot;0adfc9de-d5fa-4331-941c-063c37be0232&quot;"/>
    <we:property name="creatorUserId" value="&quot;100320003888D33C&quot;"/>
    <we:property name="datasetId" value="&quot;5aaaf6a5-45ee-457b-8a09-5b358a6fc1f1&quot;"/>
    <we:property name="embedUrl" value="&quot;/reportEmbed?reportId=deb92af7-bc46-4426-b6ab-a660c911bd35&amp;config=eyJjbHVzdGVyVXJsIjoiaHR0cHM6Ly9XQUJJLU5PUlRILUVVUk9QRS1yZWRpcmVjdC5hbmFseXNpcy53aW5kb3dzLm5ldCIsImVtYmVkRmVhdHVyZXMiOnsidXNhZ2VNZXRyaWNzVk5leHQiOnRydWV9fQ%3D%3D&amp;disableSensitivityBanner=true&amp;storytellingChangeViewModeShortcutKeys=true&quot;"/>
    <we:property name="initialStateBookmark" value="&quot;H4sIAAAAAAAAA+1a227bOBD9FUMveXEXpESJZN4cx90Wadps7KZYLIKCl5GtriwZEp0mG+Tfd0Q5SJ2bE7epXaCAAUckdTgzPHOjcxnYrJ7l6uK9mkKwG+yV5b9TVf3boUE3KBZjHz4cHPaODz6/7x0OcLicuaws6mD3MnCqGoM7yeq5yhsEHPzntBuoPD9S4+YpVXkN3WAGVV0WKs/+g3YxTrlqDlfdAM5neVmpBnLolIMG9gyX4zPuTf+IcEdlXHYGQzCuHRVEhtIyRRnEBgxRkRS4rG4XeMnuXdJA++37ZeFUVuA2zRiJEkpCDjSxmnCubMRkM55muVss0ReD81mF2qHOF7PGKj17pgoDNvAqVFC3El8Gh6DqeeX1GCxNDMt5ZeAYUj9VuMxdNDgp7tEZZsU4h85w8G7QH3X+mkN1EVyhdY6qEm3nF7rSqbwzrxuJmqlJ+bVfAVrMBrvkqrs5wUZeMDNRRQH5Vsr2STkz6bxBqC0Tr4dMR0fp7M9bD+gcZsXcwX1SnuJI7RFbD7oh86gV3qjKLqbQR/UXdIaGuvhaWVmo9i48e/ez6tqNwu4tZX4Oc1ETnGZcp3HMJNehphEDIIw36I+qWE8Ufi9p12ARpljIiDKChYYrYi1hK7EcnDtdnt9FY0ZgFFARxS8MH5E02q6PRqQMU0s5JZwaQQkBQVaiZVMkxV0sYUXKFVghFY0ZxiwrknVt1gQ8amlkEsEQUTGh45Uxr49kHJdVZjzHll2kX+bzafHDubPf+7vNO1vlt4/H4tWu6m3Vn6jKPdFX6W1ffXlzX51eJ16c//JNal2woJXx5eU49XwNY2ZMamOSRJAQEpqYwLrcTwXEEusCyUOlQYZEc/Pr5vsNOOUhlk+Tji8Z12C/wrXbyP0lrTbK/iVJWv5j2qBacBkCJVHECOEmWpf/YIQgsdRE6sYLQkLXx+IhM1QwozSJGE2oBrp2HqdUxZjFw5BqmnASExPZbcxJvT8Hn/c+9g8Go/WyUm88rmCs3OLxp5D743Bw/Hbfj76eFwvPitfJXfm8xj3B7qlqG7146XA26sVLkrRezAUQmkiiAX2vYbjUYhsZfnT84eTt+/6aVdcvzW9bYgf2HGLfaaO2Sf2NOsA3LGrpn8QiNQllxDDOOQGLldw20v9Tb9R/88uF+KVW6TuD/NY2KLeOZqP8viVLy/EIgKfYVxNglHJJDE/ougURUUILbE80MAsJC0HJ1YXag1cRieTUEMtClWDFBgL7f7U+mpSC6FTEhBhKteEo5OqLjQfRAEvR0AInViKkiiJOvgPNQBrJUGD9qAlRhDOQW3m58WghudJJ6zwzUC1pH0yhGvtW1CqnvHazdrsM2vnS+mnwyl8G7zIUtcU+Ufm8gd3Zxzds+bXYCbwxs/ptcYYIYIeQtx52uBqlud1v3l9c993ro35t/ZNLMJqEwmgZhyxkHFupMCJb2WQ8UoL9ZsYL1CZpKjT2xTrUiTARhjUZrb4U+s2LF+FF81Nefl1Z3JGodmhw15qq3WAFsv8Rcgspx1IMPzSWTChMy5GxQrJtpNyw93m/N/rxjBtD0R7VnSNuLbD818n1j8LYcL2uyql/bfGztcIdnqBXN2jFIg3FPk2gubX1513Y7LpU7xU+HbyD1LUmnc5UldXXBr5+OsiadSjKzcIn2L598AI/YuPjbDxxD3AZvRRcNoWdkNDkFaH4GRGy6z/e/b59/3Hho00Lz16R8JbwrYv6EPBAPKodNiX7i38UeMTpVxoKnaewzwdi9wA9JUbugfsKUOy8fIjzpoNjVYzhHuisMPncwqi06uJ5mXrDnd8NyR5s+l4+ht8Icdqy9f7IVs5dPVMGjlRx3xmgzVVhwT71ULtNUM10/qzS6urqf/0EBCTdIwAA&quot;"/>
    <we:property name="isFiltersActionButtonVisible" value="true"/>
    <we:property name="isVisualContainerHeaderHidden" value="false"/>
    <we:property name="pageDisplayName" value="&quot;Page 1&quot;"/>
    <we:property name="pageName" value="&quot;80929d4a14e5cec0a398&quot;"/>
    <we:property name="reportEmbeddedTime" value="&quot;2025-11-15T22:34:46.796Z&quot;"/>
    <we:property name="reportName" value="&quot;Power BI&quot;"/>
    <we:property name="reportState" value="&quot;CONNECTED&quot;"/>
    <we:property name="reportUrl" value="&quot;/groups/me/reports/deb92af7-bc46-4426-b6ab-a660c911bd35/80929d4a14e5cec0a398?bookmarkGuid=5429f466-1328-4077-b15a-b74c764080f6&amp;bookmarkUsage=1&amp;ctid=0adfc9de-d5fa-4331-941c-063c37be0232&amp;fromEntryPoint=export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1563</TotalTime>
  <Words>780</Words>
  <Application>Microsoft Office PowerPoint</Application>
  <PresentationFormat>Widescreen</PresentationFormat>
  <Paragraphs>104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Bookman Old Style</vt:lpstr>
      <vt:lpstr>Rockwell</vt:lpstr>
      <vt:lpstr>Damask</vt:lpstr>
      <vt:lpstr>BrightTV User &amp; Usage Insights Report        Understanding User Behavior to Drive Growth &amp; Engagement Period Analyzed: 06 Jan – 16 Apr         Prepared by: Ntshembo Maluleke Date: 15 Nov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Roy Maluks</cp:lastModifiedBy>
  <cp:revision>3</cp:revision>
  <dcterms:created xsi:type="dcterms:W3CDTF">2018-06-07T21:39:02Z</dcterms:created>
  <dcterms:modified xsi:type="dcterms:W3CDTF">2025-11-15T23:36:21Z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